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c7948f0534e31" /><Relationship Type="http://schemas.openxmlformats.org/officeDocument/2006/relationships/extended-properties" Target="/docProps/app.xml" Id="R40e2cd5df26e43bb" /><Relationship Type="http://schemas.openxmlformats.org/officeDocument/2006/relationships/officeDocument" Target="/ppt/presentation.xml" Id="R01db156276f7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f16054e0f410e"/>
  </p:sldMasterIdLst>
  <p:notesMasterIdLst>
    <p:notesMasterId xmlns:r="http://schemas.openxmlformats.org/officeDocument/2006/relationships" r:id="R00a4bf3c3ee042c7"/>
  </p:notesMasterIdLst>
  <p:sldIdLst>
    <p:sldId xmlns:r="http://schemas.openxmlformats.org/officeDocument/2006/relationships" id="256" r:id="R5d330aabd69c4a20"/>
    <p:sldId xmlns:r="http://schemas.openxmlformats.org/officeDocument/2006/relationships" id="257" r:id="R13d4415fcbf9432a"/>
    <p:sldId xmlns:r="http://schemas.openxmlformats.org/officeDocument/2006/relationships" id="258" r:id="R9e1cb8453d544bec"/>
    <p:sldId xmlns:r="http://schemas.openxmlformats.org/officeDocument/2006/relationships" id="259" r:id="Rb296eb48b5834e37"/>
    <p:sldId xmlns:r="http://schemas.openxmlformats.org/officeDocument/2006/relationships" id="260" r:id="R8362ddf8398c42b5"/>
    <p:sldId xmlns:r="http://schemas.openxmlformats.org/officeDocument/2006/relationships" id="261" r:id="Rcaf893f7a43b4582"/>
    <p:sldId xmlns:r="http://schemas.openxmlformats.org/officeDocument/2006/relationships" id="262" r:id="R33de5dab8bbf4922"/>
    <p:sldId xmlns:r="http://schemas.openxmlformats.org/officeDocument/2006/relationships" id="263" r:id="R07e5f2091dc44d4e"/>
    <p:sldId xmlns:r="http://schemas.openxmlformats.org/officeDocument/2006/relationships" id="264" r:id="Rd6f3b0fc0a13471e"/>
    <p:sldId xmlns:r="http://schemas.openxmlformats.org/officeDocument/2006/relationships" id="265" r:id="R7f124863ed2d4d47"/>
    <p:sldId xmlns:r="http://schemas.openxmlformats.org/officeDocument/2006/relationships" id="266" r:id="R8c48a0f9e14d486f"/>
    <p:sldId xmlns:r="http://schemas.openxmlformats.org/officeDocument/2006/relationships" id="267" r:id="R597bb2ce578c45ca"/>
    <p:sldId xmlns:r="http://schemas.openxmlformats.org/officeDocument/2006/relationships" id="268" r:id="Rd87950abac714ac3"/>
    <p:sldId xmlns:r="http://schemas.openxmlformats.org/officeDocument/2006/relationships" id="269" r:id="R502005db57734b20"/>
    <p:sldId xmlns:r="http://schemas.openxmlformats.org/officeDocument/2006/relationships" id="270" r:id="R5d072a6340604bbe"/>
    <p:sldId xmlns:r="http://schemas.openxmlformats.org/officeDocument/2006/relationships" id="271" r:id="R394a53c8005b47ab"/>
    <p:sldId xmlns:r="http://schemas.openxmlformats.org/officeDocument/2006/relationships" id="272" r:id="Rd481f038f8b64a80"/>
    <p:sldId xmlns:r="http://schemas.openxmlformats.org/officeDocument/2006/relationships" id="273" r:id="R3d84bbf221df46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b33cca1ea4292" /><Relationship Type="http://schemas.openxmlformats.org/officeDocument/2006/relationships/slideMaster" Target="/ppt/slideMasters/slideMaster1.xml" Id="R76ff16054e0f410e" /><Relationship Type="http://schemas.openxmlformats.org/officeDocument/2006/relationships/notesMaster" Target="/ppt/notesMasters/notesMaster1.xml" Id="R00a4bf3c3ee042c7" /><Relationship Type="http://schemas.openxmlformats.org/officeDocument/2006/relationships/presProps" Target="/ppt/presProps.xml" Id="Rfb81aa89a2a04588" /><Relationship Type="http://schemas.openxmlformats.org/officeDocument/2006/relationships/tableStyles" Target="/ppt/tableStyles.xml" Id="R39e2afcb188b4e11" /><Relationship Type="http://schemas.openxmlformats.org/officeDocument/2006/relationships/slide" Target="/ppt/slides/slide1.xml" Id="R5d330aabd69c4a20" /><Relationship Type="http://schemas.openxmlformats.org/officeDocument/2006/relationships/slide" Target="/ppt/slides/slide2.xml" Id="R13d4415fcbf9432a" /><Relationship Type="http://schemas.openxmlformats.org/officeDocument/2006/relationships/slide" Target="/ppt/slides/slide3.xml" Id="R9e1cb8453d544bec" /><Relationship Type="http://schemas.openxmlformats.org/officeDocument/2006/relationships/slide" Target="/ppt/slides/slide4.xml" Id="Rb296eb48b5834e37" /><Relationship Type="http://schemas.openxmlformats.org/officeDocument/2006/relationships/slide" Target="/ppt/slides/slide5.xml" Id="R8362ddf8398c42b5" /><Relationship Type="http://schemas.openxmlformats.org/officeDocument/2006/relationships/slide" Target="/ppt/slides/slide6.xml" Id="Rcaf893f7a43b4582" /><Relationship Type="http://schemas.openxmlformats.org/officeDocument/2006/relationships/slide" Target="/ppt/slides/slide7.xml" Id="R33de5dab8bbf4922" /><Relationship Type="http://schemas.openxmlformats.org/officeDocument/2006/relationships/slide" Target="/ppt/slides/slide8.xml" Id="R07e5f2091dc44d4e" /><Relationship Type="http://schemas.openxmlformats.org/officeDocument/2006/relationships/slide" Target="/ppt/slides/slide9.xml" Id="Rd6f3b0fc0a13471e" /><Relationship Type="http://schemas.openxmlformats.org/officeDocument/2006/relationships/slide" Target="/ppt/slides/slide10.xml" Id="R7f124863ed2d4d47" /><Relationship Type="http://schemas.openxmlformats.org/officeDocument/2006/relationships/slide" Target="/ppt/slides/slide11.xml" Id="R8c48a0f9e14d486f" /><Relationship Type="http://schemas.openxmlformats.org/officeDocument/2006/relationships/slide" Target="/ppt/slides/slide12.xml" Id="R597bb2ce578c45ca" /><Relationship Type="http://schemas.openxmlformats.org/officeDocument/2006/relationships/slide" Target="/ppt/slides/slide13.xml" Id="Rd87950abac714ac3" /><Relationship Type="http://schemas.openxmlformats.org/officeDocument/2006/relationships/slide" Target="/ppt/slides/slide14.xml" Id="R502005db57734b20" /><Relationship Type="http://schemas.openxmlformats.org/officeDocument/2006/relationships/slide" Target="/ppt/slides/slide15.xml" Id="R5d072a6340604bbe" /><Relationship Type="http://schemas.openxmlformats.org/officeDocument/2006/relationships/slide" Target="/ppt/slides/slide16.xml" Id="R394a53c8005b47ab" /><Relationship Type="http://schemas.openxmlformats.org/officeDocument/2006/relationships/slide" Target="/ppt/slides/slide17.xml" Id="Rd481f038f8b64a80" /><Relationship Type="http://schemas.openxmlformats.org/officeDocument/2006/relationships/slide" Target="/ppt/slides/slide18.xml" Id="R3d84bbf221df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9fab1641f94d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a20eecdcab478f" /><Relationship Type="http://schemas.openxmlformats.org/officeDocument/2006/relationships/notesMaster" Target="/ppt/notesMasters/notesMaster1.xml" Id="R9ee2dccdf5cd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00e6c23044221" /><Relationship Type="http://schemas.openxmlformats.org/officeDocument/2006/relationships/notesMaster" Target="/ppt/notesMasters/notesMaster1.xml" Id="R2a6489f25205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570cc9e5834cf3" /><Relationship Type="http://schemas.openxmlformats.org/officeDocument/2006/relationships/notesMaster" Target="/ppt/notesMasters/notesMaster1.xml" Id="Rac2d5f819e88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7b2af612a4350" /><Relationship Type="http://schemas.openxmlformats.org/officeDocument/2006/relationships/notesMaster" Target="/ppt/notesMasters/notesMaster1.xml" Id="R5a4c99d729f64a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5b945bdc64679" /><Relationship Type="http://schemas.openxmlformats.org/officeDocument/2006/relationships/notesMaster" Target="/ppt/notesMasters/notesMaster1.xml" Id="Re989a306a855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d0d642ff74603" /><Relationship Type="http://schemas.openxmlformats.org/officeDocument/2006/relationships/notesMaster" Target="/ppt/notesMasters/notesMaster1.xml" Id="Rc100a02c0cbf48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b2f22a8eb642c0" /><Relationship Type="http://schemas.openxmlformats.org/officeDocument/2006/relationships/notesMaster" Target="/ppt/notesMasters/notesMaster1.xml" Id="R51c083bc4763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9d856ed6494f52" /><Relationship Type="http://schemas.openxmlformats.org/officeDocument/2006/relationships/notesMaster" Target="/ppt/notesMasters/notesMaster1.xml" Id="R4d9f53e5cdc349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23afa6c8744b9" /><Relationship Type="http://schemas.openxmlformats.org/officeDocument/2006/relationships/notesMaster" Target="/ppt/notesMasters/notesMaster1.xml" Id="Rae472d25b8b044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da7fec3d7e4881" /><Relationship Type="http://schemas.openxmlformats.org/officeDocument/2006/relationships/notesMaster" Target="/ppt/notesMasters/notesMaster1.xml" Id="Ref74d828aa2947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cf110007d94f91" /><Relationship Type="http://schemas.openxmlformats.org/officeDocument/2006/relationships/notesMaster" Target="/ppt/notesMasters/notesMaster1.xml" Id="R6542416e8ece42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0a216e69f147cf" /><Relationship Type="http://schemas.openxmlformats.org/officeDocument/2006/relationships/notesMaster" Target="/ppt/notesMasters/notesMaster1.xml" Id="Rec21d0545c2449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aa0c3d458b4a69" /><Relationship Type="http://schemas.openxmlformats.org/officeDocument/2006/relationships/notesMaster" Target="/ppt/notesMasters/notesMaster1.xml" Id="Rdef579c23dd9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d7123d862047cd" /><Relationship Type="http://schemas.openxmlformats.org/officeDocument/2006/relationships/notesMaster" Target="/ppt/notesMasters/notesMaster1.xml" Id="R5ccc83107f474d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25a3f1b66f43fe" /><Relationship Type="http://schemas.openxmlformats.org/officeDocument/2006/relationships/notesMaster" Target="/ppt/notesMasters/notesMaster1.xml" Id="R780e663c43e142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de23bebb07478a" /><Relationship Type="http://schemas.openxmlformats.org/officeDocument/2006/relationships/notesMaster" Target="/ppt/notesMasters/notesMaster1.xml" Id="Rf9793700c0b44c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afe4a2dd49434b" /><Relationship Type="http://schemas.openxmlformats.org/officeDocument/2006/relationships/notesMaster" Target="/ppt/notesMasters/notesMaster1.xml" Id="Rdb776698aea146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1a95c95500473d" /><Relationship Type="http://schemas.openxmlformats.org/officeDocument/2006/relationships/notesMaster" Target="/ppt/notesMasters/notesMaster1.xml" Id="R47ced0b058b3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README.md; RESULTS_AND_BOTTLENECKS.md; docs/SCALING_AUDIT.md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scripts/run_pipeline.sh; scripts/run_openroad.sh; scripts/export_power.tcl; scripts/build_inputs.py; scripts/infer.py; scripts/analyze_results.py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inputs/rtl/; inputs/orfs_config/config.mk; inputs/orfs_config/constraint.sdc; vendor/nangate45/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inputs/orfs_config/constraint.sdc; flow/results/nangate45/aes/base/6_final.sdc; inputs/rtl/aes_cipher_top.v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flow/logs/nangate45/aes/base/6_report.json; flow/logs/nangate45/aes/base/5_2_route.json; outputs/geometry.json; inputs/orfs_config/aes_ng45_fp.def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scripts/run_openroad.sh; flow/results/nangate45/aes/base/; flow/logs/nangate45/aes/base/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flow/results/nangate45/aes/base/6_final.*; scripts/export_power.tcl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scripts/export_power.tcl; outputs/cells_0.10.csv; outputs/power_0.10.rpt; outputs/power_summary_0.10.txt; vendor/nangate45/lib/NangateOpenCellLibrary_typical.lib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scripts/build_inputs.py; outputs/cells_0.10.csv; inputs/thermfm/conservation_arrays.npz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scripts/build_inputs.py; scripts/infer.py; inputs/thermfm/cases.json; vendor/checkpoint_IND8C_GWL2_T/normalization_constants.json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vendor/checkpoint_IND8C_GWL2_T/config.json; vendor/checkpoint_IND8C_GWL2_T/normalization_constants.json; outputs/aes_inference/inference_report.json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scripts/infer.py; scripts/analyze_results.py; outputs/aes_inference/inference_report.json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outputs/aes_inference/aes_temperature_maps.png; outputs/aes_inference/case_summary.csv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scripts/build_inputs.py; docs/THERMAL_ASSUMPTIONS.md; vendor/checkpoint_IND8C_GWL2_T/config.json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outputs/layer_coupling_20260930/coupling_report.json; docs/LAYER_COUPLING_TEST.md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docs/THERMAL_ASSUMPTIONS.md; outputs/verification.json; docs/SCALING_AUDIT.md; flow/logs/nangate45/aes/base/6_report.json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docs/SCALING_AUDIT.md; https://arxiv.org/html/2605.22663v2#S3.SS1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evidence (paths relative to /Users/ayush/Arch_Gen/aes_thermfm):</a:t>
            </a:r>
          </a:p>
          <a:p xmlns:a="http://schemas.openxmlformats.org/drawingml/2006/main">
            <a:r>
              <a:t>README.md; scripts/run_pipeline.sh; docs/SCALING_AUDIT.md; docs/LAYER_COUPLING_TEST.md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ae0d2c2ee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9ad263c6b4312" /><Relationship Type="http://schemas.openxmlformats.org/officeDocument/2006/relationships/slideLayout" Target="/ppt/slideLayouts/slideLayout1.xml" Id="R8ffad49e550748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ad49e550748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0cb7500394a82" /><Relationship Type="http://schemas.openxmlformats.org/officeDocument/2006/relationships/notesSlide" Target="/ppt/notesSlides/notesSlide1.xml" Id="R8bb186de8abf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0f7cd566408e" /><Relationship Type="http://schemas.openxmlformats.org/officeDocument/2006/relationships/notesSlide" Target="/ppt/notesSlides/notesSlide2.xml" Id="R432e8b6bec9e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23a31e004930" /><Relationship Type="http://schemas.openxmlformats.org/officeDocument/2006/relationships/notesSlide" Target="/ppt/notesSlides/notesSlide3.xml" Id="Rc4c88a204c3a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3c8e90d344d0" /><Relationship Type="http://schemas.openxmlformats.org/officeDocument/2006/relationships/notesSlide" Target="/ppt/notesSlides/notesSlide4.xml" Id="R7893b24dc6e3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4b92be0d4203" /><Relationship Type="http://schemas.openxmlformats.org/officeDocument/2006/relationships/notesSlide" Target="/ppt/notesSlides/notesSlide5.xml" Id="Rb73227045e0e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371ff0dce44c7" /><Relationship Type="http://schemas.openxmlformats.org/officeDocument/2006/relationships/notesSlide" Target="/ppt/notesSlides/notesSlide6.xml" Id="Racee1f460f1647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0a1d8fd33468c" /><Relationship Type="http://schemas.openxmlformats.org/officeDocument/2006/relationships/notesSlide" Target="/ppt/notesSlides/notesSlide7.xml" Id="Rd881a6fcf6b14d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35ec6ffc0470f" /><Relationship Type="http://schemas.openxmlformats.org/officeDocument/2006/relationships/notesSlide" Target="/ppt/notesSlides/notesSlide8.xml" Id="R7c28587a09b742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7e99ed90b4f5a" /><Relationship Type="http://schemas.openxmlformats.org/officeDocument/2006/relationships/notesSlide" Target="/ppt/notesSlides/notesSlide9.xml" Id="R4ad201cd42af4d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903c657740b7" /><Relationship Type="http://schemas.openxmlformats.org/officeDocument/2006/relationships/notesSlide" Target="/ppt/notesSlides/notesSlide10.xml" Id="R7221e0d159d14f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4184db1e4cc9" /><Relationship Type="http://schemas.openxmlformats.org/officeDocument/2006/relationships/notesSlide" Target="/ppt/notesSlides/notesSlide11.xml" Id="Racb43da2007d4f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b34fd4d1e45ef" /><Relationship Type="http://schemas.openxmlformats.org/officeDocument/2006/relationships/notesSlide" Target="/ppt/notesSlides/notesSlide12.xml" Id="Ra783e7c672694b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6a735fb214ae6" /><Relationship Type="http://schemas.openxmlformats.org/officeDocument/2006/relationships/image" Target="/ppt/media/image.png" Id="R3d4ff64d09e5442c" /><Relationship Type="http://schemas.openxmlformats.org/officeDocument/2006/relationships/notesSlide" Target="/ppt/notesSlides/notesSlide13.xml" Id="R0c13c83318d14e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252a2e7da491b" /><Relationship Type="http://schemas.openxmlformats.org/officeDocument/2006/relationships/notesSlide" Target="/ppt/notesSlides/notesSlide14.xml" Id="R608d8feb86d64a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c0acd683a4923" /><Relationship Type="http://schemas.openxmlformats.org/officeDocument/2006/relationships/notesSlide" Target="/ppt/notesSlides/notesSlide15.xml" Id="R5b63e8b0888642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9a9bfffbc47cd" /><Relationship Type="http://schemas.openxmlformats.org/officeDocument/2006/relationships/notesSlide" Target="/ppt/notesSlides/notesSlide16.xml" Id="Rb68cd777a77f4d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3242bcea0473a" /><Relationship Type="http://schemas.openxmlformats.org/officeDocument/2006/relationships/notesSlide" Target="/ppt/notesSlides/notesSlide17.xml" Id="R43a5e137882e40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c80bbe4d4733" /><Relationship Type="http://schemas.openxmlformats.org/officeDocument/2006/relationships/notesSlide" Target="/ppt/notesSlides/notesSlide18.xml" Id="R3718392a9b1a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8A670-43ED-4230-AF21-3D9E66C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AES thermal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4F97F-D2AC-48AA-B4E3-442A304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3BB35-77EE-4044-AA98-3CA384C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Input files, transformations</a:t>
            </a:r>
          </a:p>
          <a:p xmlns:a="http://schemas.openxmlformats.org/drawingml/2006/main">
            <a:pPr>
              <a:defRPr sz="405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and constraint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1D7CE-FE64-4199-A9A9-DA16FD19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OpenROAD physical design and power estimates</a:t>
            </a:r>
          </a:p>
          <a:p xmlns:a="http://schemas.openxmlformats.org/drawingml/2006/main">
            <a:pPr>
              <a:defRPr sz="22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Therm-FM input construction and temperature outputs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DBCBC-9850-4BCD-82DD-26A9FCA7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Run status: execution succeeded. Timing closure and AES thermal accuracy remain unresolved.</a:t>
            </a:r>
          </a:p>
        </p:txBody>
      </p:sp>
    </p:spTree>
    <p:extLst>
      <p:ext uri="{BB962C8B-B14F-4D97-AF65-F5344CB8AC3E}">
        <p14:creationId xmlns:p14="http://schemas.microsoft.com/office/powerpoint/2010/main" val="1098311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93761-E38F-46E2-9C10-743D2CA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Complete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B0BB3-C24E-4253-A6A1-6AFE86BE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Each step produces the files consumed by the next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18EAC-6BED-4D09-A488-3B617703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95750"/>
                <a:gridCol w="4857750"/>
              </a:tblGrid>
              <a:tr h="59191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 / operation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output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Circuit definition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Verilog + SDC + LIB/LEF + floorplan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RTL, constraints and technology inputs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 Physical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Yosys, then OpenROAD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Netlist, ODB/DEF, SDC, SPEF, GDS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 Cell power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OpenSTA inside OpenROAD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Cell geometry and power CSV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Thermal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overlap rasterization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input.mat + cases.json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 Temperature inference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Therm-FM + saved normalization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temperature_K.npy + predictions.mat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 Visualization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plotting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and temperature heatmaps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001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7ABAB-A30C-4C53-9276-A0E062E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Starting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0B96D-E4E3-4FDA-A2EE-357F0E98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AES means Advanced Encryption Standard. Our implementation occupies one die.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1D025-91CC-4943-83C5-2D007F5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000500"/>
                <a:gridCol w="3857625"/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Contents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aes_cipher_top.v + helper .v files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Encryption logic and registers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 circuit behaviour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constraint.sdc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Clocks and I/O delays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 timing requirements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config.mk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module, platform and paths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design and flow settings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aes_ng45_fp.def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Die area and placement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Provide the starting floorplan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Nangate45 .lib and .lef files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Cell timing/power and geometry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 logic and build a physical layout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EE557-2E25-4E43-ACDA-067F824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Top module: aes_cipher_top. Technology: Nangate45, typical library corner.</a:t>
            </a:r>
          </a:p>
        </p:txBody>
      </p:sp>
    </p:spTree>
    <p:extLst>
      <p:ext uri="{BB962C8B-B14F-4D97-AF65-F5344CB8AC3E}">
        <p14:creationId xmlns:p14="http://schemas.microsoft.com/office/powerpoint/2010/main" val="1875354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A1253-C2FB-4618-BFF6-7D33F191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Timing constraints in the saved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08E5D-8120-4245-94C2-4060444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Verification compares source intent with the final exported SDC.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1A13-2F58-4F52-8F8D-30EAF7F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4000500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Configured value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result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clock clk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 ns period (~1.22 GHz)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Present, propagated clock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Virtual I/O clock vclk_clk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 ns period, 0.210 ns latency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final SDC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delay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 × 0.82 = 0.164 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258 of 258 non-clock input bits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 delay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0.164 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129 of 129 output bits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 network latency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clk latency: 0.210 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Propagated clock-tree delay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D1FE3-3DC9-4AB8-8CCC-BB47545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Final SDC has no explicit clock uncertainty, input drive/transition or output load commands. These need a target environment definition.</a:t>
            </a:r>
          </a:p>
        </p:txBody>
      </p:sp>
    </p:spTree>
    <p:extLst>
      <p:ext uri="{BB962C8B-B14F-4D97-AF65-F5344CB8AC3E}">
        <p14:creationId xmlns:p14="http://schemas.microsoft.com/office/powerpoint/2010/main" val="1015363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37130-35BE-46F8-901E-6E29967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Physical and timing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2D32C-AF22-4C14-8832-455F7F4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Applying a constraint and meeting that constraint are different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01A2B-0405-4718-B9F7-873B7D8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381500"/>
                <a:gridCol w="3619500"/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Die dimensions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249.85 × 250.60 µm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DEF matches final geometry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 timing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−0.03803 ns, 19 violations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 at the 0.82 ns clock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Hold timing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+0.10568 ns, 0 violations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in the saved timing corner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Slew and capacitance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reported violations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in the saved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DRC / antenna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DRC errors, 0 antenna nets/pins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Router checks pass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F84FE-0E53-4B88-96F2-3C8F5579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Fresh OpenSTA check confirms rounded slack: −0.04 / +0.11 ns. No full sign-off or functional AES validation.</a:t>
            </a:r>
          </a:p>
        </p:txBody>
      </p:sp>
    </p:spTree>
    <p:extLst>
      <p:ext uri="{BB962C8B-B14F-4D97-AF65-F5344CB8AC3E}">
        <p14:creationId xmlns:p14="http://schemas.microsoft.com/office/powerpoint/2010/main" val="728343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BDAF2-9C99-413F-8EA7-36F2E719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Synthesis and physical design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A318-38F0-41DA-8F2A-8D15F15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Yosys creates gates. OpenROAD determines their physical implementation.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BDBC5-E9AB-4559-AEF9-E6407CDE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429125"/>
                <a:gridCol w="4191000"/>
              </a:tblGrid>
              <a:tr h="57830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outputs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Synthesis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 RTL into library cells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1_2_yosys.v and .sdc, 1_synth.odb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Floorplan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die boundary, rows and power grid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2_*.odb and floorplan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Placement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Place cells and repair timing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3_*.odb and placement reports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 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Insert and route clock buffers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4_1_cts.odb and clock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Global route, detailed route and fill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5_*.odb and routing reports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extraction / 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Extract parasitics and export layout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6_final.odb, .def, .gds, .sdc, .spef, .v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5F89-57CC-4D98-95B7-BBB8AA7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Archive includes final design files and stage logs. Intermediate design files were not copied.</a:t>
            </a:r>
          </a:p>
        </p:txBody>
      </p:sp>
    </p:spTree>
    <p:extLst>
      <p:ext uri="{BB962C8B-B14F-4D97-AF65-F5344CB8AC3E}">
        <p14:creationId xmlns:p14="http://schemas.microsoft.com/office/powerpoint/2010/main" val="356303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C0614-6ECE-4DDB-837C-8DDE3BF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Physical design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3EA9C-AD98-4B20-9F11-2156763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All files below share the base name 6_final.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2F895-2347-4EA1-ABE5-9D74F52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667250"/>
                <a:gridCol w="409575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Extension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stores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in this experiment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.v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Mapped gates and connections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Circuit connectivity / review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.odb / .def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database / exchange layout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Cell locations and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.sdc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timing constraints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 for power analysis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.spef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Extracted wire resistance and capacitance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Electrical loading for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.gds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layout geometry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Layout export only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6BEE1-6A94-4B94-AB7C-51A213D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OpenROAD creates the layout. Therm-FM directly reads none of these physical-design files.</a:t>
            </a:r>
          </a:p>
        </p:txBody>
      </p:sp>
    </p:spTree>
    <p:extLst>
      <p:ext uri="{BB962C8B-B14F-4D97-AF65-F5344CB8AC3E}">
        <p14:creationId xmlns:p14="http://schemas.microsoft.com/office/powerpoint/2010/main" val="2039822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78CF7-662E-4D56-A3A2-2AFFDBC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Per-cell power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177A0-40FE-49B3-AD0B-815D7873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OpenSTA combines the routed design, final SDC, SPEF and Liberty power 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A3876-F467-4BF7-A554-5505FF01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143250"/>
                <a:gridCol w="48577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component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Activity 0.10 result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Internal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9.2362 mW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consumed inside cells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Switching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8.1584 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Charging and discharging electrical loads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Leakage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0.4608 mW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Static cell power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17.8554 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Sum used to construct the AES power 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2DFC-12B3-4A3C-81B2-85C59EF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Activity 0.10 and duty 0.5 are assumptions. No workload VCD/SAIF was used. Library nominal conditions: 1.10 V and 25°C.</a:t>
            </a:r>
          </a:p>
        </p:txBody>
      </p:sp>
    </p:spTree>
    <p:extLst>
      <p:ext uri="{BB962C8B-B14F-4D97-AF65-F5344CB8AC3E}">
        <p14:creationId xmlns:p14="http://schemas.microsoft.com/office/powerpoint/2010/main" val="8528467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0E4D8-9B91-484E-88AA-9696826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Cell power becomes a spatial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0B243-AF22-4B89-ACB9-8E1637C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OpenSTA estimates watts per cell. Python places those watts on a grid.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CA719-0551-465C-9104-24BB2785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1A4A5-5335-4F1A-A85C-F4AABBEC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9A19E-4AB5-42AC-836C-3CF2074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Read each cell’s bounding box and total power from the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29CC6-747C-4929-A071-4C4FEA2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2BF15-B44B-41AA-9159-E0A842E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479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Allocate power by exact cell–grid overlap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0E731-ACFA-49B3-A606-ADB1439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0BF8B-D221-4E7F-B17F-F545E65E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337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Divide each bin’s watts by its area × assumed source thickness.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68E30-AF93-4206-98C4-8E58274D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00B13-F383-4109-AF98-1DCEDABC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196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Check that the density integral recovers the original total watts.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85DEE-A9E5-4FCF-A377-9796784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Grid: 101 × 101. Source thickness: assumed 200 µm. Original maximum integration error: 3.47 × 10⁻¹⁸ W.</a:t>
            </a:r>
          </a:p>
        </p:txBody>
      </p:sp>
    </p:spTree>
    <p:extLst>
      <p:ext uri="{BB962C8B-B14F-4D97-AF65-F5344CB8AC3E}">
        <p14:creationId xmlns:p14="http://schemas.microsoft.com/office/powerpoint/2010/main" val="17050461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06BF0-3D08-4588-88E8-ED37A2B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Therm-FM tensor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49142-6259-4BB5-BDDA-E64837B6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Four fields describe each layer slot. Layer slots and channels are different concepts.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49B36-EE7C-4BB3-BF2E-69448BE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381500"/>
                <a:gridCol w="361950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Representation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Shape / fields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Transformation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 layer slot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density, x, y, layer ID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fields on the same spatial grid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input.mat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[N, 4, 2, 101, 101]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HDF5 dataset named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input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[N, 8, 101, 101]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Reorder to layer-major, flatten fields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(value − saved mean) / saved std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training statistics per channel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2F837-465E-4F7C-8206-55E31879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Adapter conventions: W/m³, x/y in mm, z as IDs 1 and 2. Exact original source-field scaling still needs generator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111838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0690D-D0DA-41E2-AF3C-8532927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The checkpoint used for this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43FCD-4AEE-4785-8144-1003C43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Existing Therm-FM-T, trained on IND-8C with the user’s GW-L2 loss, alpha 0.5.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0026E-3A5D-4FAD-B57A-2E9CC05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85800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pytorch_model.bin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trained neural-network weights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101² grid, 8 inputs, 2 outputs and architecture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normalization_constants.json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standardization and output temperature scaling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vendor/Therm-FM/scOT/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Archived model implementation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scripts/infer.py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Loads inputs and executes label-free inference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CB9BA-8879-4E8E-AEAE-0D75A66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No AES fine-tuning occurred. This is a custom experiment checkpoint, not an untouched paper checkpoint.</a:t>
            </a:r>
          </a:p>
        </p:txBody>
      </p:sp>
    </p:spTree>
    <p:extLst>
      <p:ext uri="{BB962C8B-B14F-4D97-AF65-F5344CB8AC3E}">
        <p14:creationId xmlns:p14="http://schemas.microsoft.com/office/powerpoint/2010/main" val="805342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93C95-EF76-4D61-93A2-1D67F78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Temperature prediction and plotting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A3B7-BC8E-4CCE-92DB-0A525BCE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The network predicts numerical grids. The plotting script produces the graphs.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29C0-F66A-44D8-9F2B-D8BAF72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5CC09-EB6C-434D-BB05-A3E208F3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5FD50-6B08-4091-9D54-FB20CA5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Feed the normalized 8-channel tensor into the shared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B691B-A028-461E-AD95-CD3A37CC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A8BD-0DBF-4621-9037-274588F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479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Receive 2 normalized output maps, each 101 × 101.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1921F-0D6D-4C9E-A0EC-7970D782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9FF53-1166-4668-8BE3-C177A90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337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Recover kelvin: prediction × output standard deviation + mean.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7093B-5932-4C93-B515-90824A6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E2B6D-3DD8-40B2-8547-952D52B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196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Save temperature_K.npy / predictions.mat, then plot x/y heatmaps.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20EB3-206E-43CF-A5D1-6FC6A20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One output map per modeled slot. Both maps use the shared input. Output shape: [N, 2, 101, 101].</a:t>
            </a:r>
          </a:p>
        </p:txBody>
      </p:sp>
    </p:spTree>
    <p:extLst>
      <p:ext uri="{BB962C8B-B14F-4D97-AF65-F5344CB8AC3E}">
        <p14:creationId xmlns:p14="http://schemas.microsoft.com/office/powerpoint/2010/main" val="41671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89010-3120-487D-9410-B44F709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Power and predicted temperatures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8110-8366-4FDB-89A1-EB582C7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ff64d09e5442c"/>
          <a:stretch xmlns:a="http://schemas.openxmlformats.org/drawingml/2006/main"/>
        </p:blipFill>
        <p:spPr>
          <a:xfrm xmlns:a="http://schemas.openxmlformats.org/drawingml/2006/main">
            <a:off x="1595438" y="1143000"/>
            <a:ext cx="9001125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EF76-023B-4072-AD45-64EEF44F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Top: native die. Bottom: 1 mm domain. Columns: power and two predicted temperatures. Unvalidated.</a:t>
            </a:r>
          </a:p>
        </p:txBody>
      </p:sp>
    </p:spTree>
    <p:extLst>
      <p:ext uri="{BB962C8B-B14F-4D97-AF65-F5344CB8AC3E}">
        <p14:creationId xmlns:p14="http://schemas.microsoft.com/office/powerpoint/2010/main" val="14079876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9B28A-8D86-42B2-BB0A-0A485C54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Why the experiment has two slots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96CA-5CE4-427E-8EFE-38069DB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The selected checkpoint requires two slots. Our OpenROAD AES layout has one die.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9118-C32A-4D57-AC6E-2B5CAB90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905250"/>
              </a:tblGrid>
              <a:tr h="682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slot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field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Slot 0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Estimated AES power density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OpenSTA power + OpenROAD geometry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Slot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zeros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placeholder created by Python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8A10F-A81D-4804-82D9-006C6C2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Zero heat generation does not remove a physical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C3E07-FF56-448B-8AD3-6DDBE4A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This input fits the checkpoint’s shape but does not establish a matching thermal stack. The model retains its learned package behaviour.</a:t>
            </a:r>
          </a:p>
        </p:txBody>
      </p:sp>
    </p:spTree>
    <p:extLst>
      <p:ext uri="{BB962C8B-B14F-4D97-AF65-F5344CB8AC3E}">
        <p14:creationId xmlns:p14="http://schemas.microsoft.com/office/powerpoint/2010/main" val="642413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2D498-F7FB-4F84-B19B-A812DDA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The second slot affects the AES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99696-051C-4C48-B5D3-AA17ADF7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Controlled test: keep every AES input fixed, change only power in the second slot.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50191-4301-4398-8EE7-B70C72B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05250"/>
                <a:gridCol w="3905250"/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Second-slot power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AES temperature change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absolute local change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mW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8.93 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+0.0051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0.0716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17.86 mW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+0.0102 K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0.1429 K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35.71 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+0.0206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0.2752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C2BDF-9C7B-4282-A69B-94E4508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Native-domain results demonstrate model dependence. They do not measure adding/removing a physical layer or validate the learned heat transfer.</a:t>
            </a:r>
          </a:p>
        </p:txBody>
      </p:sp>
    </p:spTree>
    <p:extLst>
      <p:ext uri="{BB962C8B-B14F-4D97-AF65-F5344CB8AC3E}">
        <p14:creationId xmlns:p14="http://schemas.microsoft.com/office/powerpoint/2010/main" val="6744383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7F22E-1524-4627-AF36-ED5A3904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Constraint status across the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1ED68-866A-4936-A208-8697AB0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Verified file compatibility and unresolved physical assumptions must stay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D81A1-00E9-4F1C-91DC-0D3C79DC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5048250"/>
              </a:tblGrid>
              <a:tr h="58510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/ remaining work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SDC coverage and floorplan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from saved files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Clock, port delays, DEF dimensions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 setup violations at 0.82 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Power-to-grid conservation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integral error ≤ 3.47e−18 W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Tensor / checkpoint compatibility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Shapes, hashes, normalization, exact replay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Activity and thermal setup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Assumed / unmatched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Workload trace, materials and cooling needed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 temperature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established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matching solver reference temperatures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6801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E2313-C2D1-4513-8F58-B38CDA6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A new design needs a matching thermal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3C8C8-A632-4E24-88BD-8B084D83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The paper captures each benchmark’s fixed structure through model adaptation.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18280-3761-4019-8390-C6D73B3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FC6B5-1B81-45B8-927B-DE67679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D0B3B-5D5E-4C33-B3E6-9900892A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Supply the new RTL, timing constraints, floorplan and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8B53A-F872-45C7-B1BF-2404B4C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C7FC1-EF44-4AE8-B216-B5F371C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527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Generate layout and workload-based power, then verify units and power conservation.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DF336-AFCB-41BF-A02A-D4F5D4E3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14787-9C0C-4198-8310-ECA2AF6A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385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Define the die/package stack, interfaces, cooling and temperature output planes.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3B734-4A35-41AC-85F8-2D213E6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6B418-F4E3-4171-8C55-49525EB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243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Generate solver references and adapt the model’s channels and weights as needed.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C9275-2824-4355-BE42-6528E40D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74723"/>
                </a:solidFill>
                <a:latin typeface="Helvetica Neue"/>
                <a:ea typeface="Helvetica Neue"/>
                <a:cs typeface="Helvetica Neue"/>
              </a:rPr>
              <a:t>A single-die AES model could use 4 input fields and 1 temperature output plane. It needs compatible projections, normalization and fine-tuning.</a:t>
            </a:r>
          </a:p>
        </p:txBody>
      </p:sp>
    </p:spTree>
    <p:extLst>
      <p:ext uri="{BB962C8B-B14F-4D97-AF65-F5344CB8AC3E}">
        <p14:creationId xmlns:p14="http://schemas.microsoft.com/office/powerpoint/2010/main" val="105526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40F8-1A3E-4F18-A9A8-7F0A74C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143"/>
                </a:solidFill>
                <a:latin typeface="Helvetica Neue"/>
                <a:ea typeface="Helvetica Neue"/>
                <a:cs typeface="Helvetica Neue"/>
              </a:rPr>
              <a:t>Files for review and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7CFB2-FF7E-4B25-8AA6-E9F046FC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All paths below are relative to /Users/ayush/Arch_Gen/aes_thermfm.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E1EC7-468B-44CB-BC34-062140A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2387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Folder / file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review</a:t>
                      </a:r>
                    </a:p>
                  </a:txBody>
                  <a:tcPr marL="91440" marR="91440" marT="45720" marB="45720">
                    <a:solidFill>
                      <a:srgbClr val="1831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inputs/rtl/ + inputs/orfs_config/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Starting circuit and physical/timing configuration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flow/results/nangate45/aes/base/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layout, netlist, SDC and SPEF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outputs/cells_*.csv + scripts/build_inputs.py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 extraction and grid conversion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inputs/thermfm/ + vendor/checkpoint_IND8C_GWL2_T/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inputs, case descriptions and saved 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outputs/aes_inference/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predictions, figures and run report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docs/SCALING_AUDIT.md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1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Bottlenecks and ordered validation experiments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130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2026-09-29T19:41:05.3970000Z</dcterms:created>
  <dcterms:modified xsi:type="dcterms:W3CDTF">2026-09-29T19:41:05.3970000Z</dcterms:modified>
</coreProperties>
</file>